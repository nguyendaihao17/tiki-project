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ea9f2e2cee4c64" /><Relationship Type="http://schemas.openxmlformats.org/officeDocument/2006/relationships/extended-properties" Target="/docProps/app.xml" Id="R043c8b807092440f" /><Relationship Type="http://schemas.openxmlformats.org/officeDocument/2006/relationships/officeDocument" Target="/ppt/presentation.xml" Id="Ra24c5ad1a6a24e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28ed8047e94759"/>
  </p:sldMasterIdLst>
  <p:notesMasterIdLst>
    <p:notesMasterId xmlns:r="http://schemas.openxmlformats.org/officeDocument/2006/relationships" r:id="R3839bb4caa574e67"/>
  </p:notesMasterIdLst>
  <p:sldIdLst>
    <p:sldId xmlns:r="http://schemas.openxmlformats.org/officeDocument/2006/relationships" id="256" r:id="Re01e15245c754b6d"/>
    <p:sldId xmlns:r="http://schemas.openxmlformats.org/officeDocument/2006/relationships" id="257" r:id="R97bb16b6df3b4432"/>
    <p:sldId xmlns:r="http://schemas.openxmlformats.org/officeDocument/2006/relationships" id="258" r:id="R650aff281b664809"/>
    <p:sldId xmlns:r="http://schemas.openxmlformats.org/officeDocument/2006/relationships" id="259" r:id="R7290d3eca51f43ef"/>
    <p:sldId xmlns:r="http://schemas.openxmlformats.org/officeDocument/2006/relationships" id="260" r:id="Re9762e2ca7554093"/>
    <p:sldId xmlns:r="http://schemas.openxmlformats.org/officeDocument/2006/relationships" id="261" r:id="Rf7f89ef57b1e4ca3"/>
    <p:sldId xmlns:r="http://schemas.openxmlformats.org/officeDocument/2006/relationships" id="262" r:id="R64f0b8b2a22a4548"/>
    <p:sldId xmlns:r="http://schemas.openxmlformats.org/officeDocument/2006/relationships" id="263" r:id="R81fb6c977a60476f"/>
    <p:sldId xmlns:r="http://schemas.openxmlformats.org/officeDocument/2006/relationships" id="264" r:id="R5774f916950a4212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139e34fd4249e3" /><Relationship Type="http://schemas.openxmlformats.org/officeDocument/2006/relationships/slideMaster" Target="/ppt/slideMasters/slideMaster1.xml" Id="R8328ed8047e94759" /><Relationship Type="http://schemas.openxmlformats.org/officeDocument/2006/relationships/notesMaster" Target="/ppt/notesMasters/notesMaster1.xml" Id="R3839bb4caa574e67" /><Relationship Type="http://schemas.openxmlformats.org/officeDocument/2006/relationships/presProps" Target="/ppt/presProps.xml" Id="R33f977fc9b064a39" /><Relationship Type="http://schemas.openxmlformats.org/officeDocument/2006/relationships/tableStyles" Target="/ppt/tableStyles.xml" Id="Rbd3a779cc1344ab1" /><Relationship Type="http://schemas.openxmlformats.org/officeDocument/2006/relationships/slide" Target="/ppt/slides/slide1.xml" Id="Re01e15245c754b6d" /><Relationship Type="http://schemas.openxmlformats.org/officeDocument/2006/relationships/slide" Target="/ppt/slides/slide2.xml" Id="R97bb16b6df3b4432" /><Relationship Type="http://schemas.openxmlformats.org/officeDocument/2006/relationships/slide" Target="/ppt/slides/slide3.xml" Id="R650aff281b664809" /><Relationship Type="http://schemas.openxmlformats.org/officeDocument/2006/relationships/slide" Target="/ppt/slides/slide4.xml" Id="R7290d3eca51f43ef" /><Relationship Type="http://schemas.openxmlformats.org/officeDocument/2006/relationships/slide" Target="/ppt/slides/slide5.xml" Id="Re9762e2ca7554093" /><Relationship Type="http://schemas.openxmlformats.org/officeDocument/2006/relationships/slide" Target="/ppt/slides/slide6.xml" Id="Rf7f89ef57b1e4ca3" /><Relationship Type="http://schemas.openxmlformats.org/officeDocument/2006/relationships/slide" Target="/ppt/slides/slide7.xml" Id="R64f0b8b2a22a4548" /><Relationship Type="http://schemas.openxmlformats.org/officeDocument/2006/relationships/slide" Target="/ppt/slides/slide8.xml" Id="R81fb6c977a60476f" /><Relationship Type="http://schemas.openxmlformats.org/officeDocument/2006/relationships/slide" Target="/ppt/slides/slide9.xml" Id="R5774f916950a42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b41ea67fed43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61452eb8384fec" /><Relationship Type="http://schemas.openxmlformats.org/officeDocument/2006/relationships/notesMaster" Target="/ppt/notesMasters/notesMaster1.xml" Id="R7a0b3ed9f1b14b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b26cf782a84f1f" /><Relationship Type="http://schemas.openxmlformats.org/officeDocument/2006/relationships/notesMaster" Target="/ppt/notesMasters/notesMaster1.xml" Id="Rec79c27349204c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fe37b644b14650" /><Relationship Type="http://schemas.openxmlformats.org/officeDocument/2006/relationships/notesMaster" Target="/ppt/notesMasters/notesMaster1.xml" Id="R81b363d22e1b4e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3ac8f6ff09452d" /><Relationship Type="http://schemas.openxmlformats.org/officeDocument/2006/relationships/notesMaster" Target="/ppt/notesMasters/notesMaster1.xml" Id="R4e2213871b6f42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3e69fa43764a45" /><Relationship Type="http://schemas.openxmlformats.org/officeDocument/2006/relationships/notesMaster" Target="/ppt/notesMasters/notesMaster1.xml" Id="R80ff58825a834c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4ba9bae80e4d44" /><Relationship Type="http://schemas.openxmlformats.org/officeDocument/2006/relationships/notesMaster" Target="/ppt/notesMasters/notesMaster1.xml" Id="R813cf03d70a44c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5d75aa02f04aed" /><Relationship Type="http://schemas.openxmlformats.org/officeDocument/2006/relationships/notesMaster" Target="/ppt/notesMasters/notesMaster1.xml" Id="Rba71fd12e11341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b803ac31ec4e92" /><Relationship Type="http://schemas.openxmlformats.org/officeDocument/2006/relationships/notesMaster" Target="/ppt/notesMasters/notesMaster1.xml" Id="Rbcd624a20d174a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2d25790634400c" /><Relationship Type="http://schemas.openxmlformats.org/officeDocument/2006/relationships/notesMaster" Target="/ppt/notesMasters/notesMaster1.xml" Id="R3afbbcb9c1384b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thiệu TikiLens, ứng dụng Streamlit phân tích sản phẩm, người bán và đánh giá trên Tiki. Ảnh nền lấy từ tài sản giao diện của ứng dụng: 261ABDA433708_03_08_TikiLens/source-code/static/tikilens-products.webp.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Ảnh chụp giao diện đăng nhập TikiLens được cung cấp trong phiên làm việc trước. Các mục chức năng được đối chiếu với 261ABDA433708_03_08_TikiLens/source-code/app.py và src/auth.py.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số liệu: dashboard đang chạy tại https://tikilens.streamlit.app, trạng thái ngày 31/10/2026, toàn bộ phạm vi lọc. Số liệu được đọc trong giao diện thật. Công thức KPI và chú giải: 261ABDA433708_03_08_TikiLens/source-code/webapp/dashboard_page.py. Pareto: top 3 danh mục chiếm 69.9%. Doanh thu là ước tính giá × số lượng đã bán, không phải doanh thu thực tế theo thời gian.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 trường lọc và mô tả phạm vi được đối chiếu với giao diện Cloud hiện hành, 31/10/2026, và 261ABDA433708_03_08_TikiLens/source-code/webapp/dashboard_page.py cùng explore_page.py. Ngày chỉ lọc đánh giá; không thay đổi doanh thu ước tính.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Đặc trưng nhà bán và khách hàng được đối chiếu với 261ABDA433708_03_08_TikiLens/source-code/webapp/clustering_page.py. Ứng dụng hiển thị hai tab phân cụm. Dữ liệu khách hàng là hành vi đánh giá; không có lịch sử đơn hàng/chi tiêu để diễn giải thành RFM mua hàng.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 chỉ số được đọc trực tiếp từ trang Dự báo trên tikilens.streamlit.app ngày 31/10/2026: MAE 3248.35, RMSE 14561.49, R² 0.271445; 2307 dòng, 1845 train / 462 test. Đối chiếu với 261ABDA433708_03_08_TikiLens/source-code/webapp/forecast_page.py và dataset/forecast_reference.csv. R² tương ứng khoảng 27.1% phương sai trên tập kiểm tra. App ghi rõ đây không phải dự báo doanh số theo chuỗi thời gian.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261ABDA433708_03_08_TikiLens/source-code/webapp/anomaly_page.py: IsolationForest, contamination 1–10%, mặc định 2%; đặc trưng gồm price, discount_rate, quantity_sold, revenue_estimate/estimated_revenue và review_count. Ứng dụng có phân bố điểm, hồ sơ theo phân vị, danh sách và nút tải 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Chức năng được đối chiếu với 261ABDA433708_03_08_TikiLens/source-code/webapp/admin_page.py, src/crud.py, src/backup.py và src/reporting.py. Xóa sản phẩm là xóa vật lý; slide nhấn mạnh xác nhận trước khi thao tác. ID được chuẩn hóa dạng chuỗi theo các yêu cầu trước đó của nhóm.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Kiến trúc và thành phần được đối chiếu với 261ABDA433708_03_08_TikiLens/source-code/app.py, src/database.py, webapp/dashboard_page.py, clustering_page.py, forecast_page.py, anomaly_page.py, src/reporting.py.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d95abd8dd48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cf83ec511f4b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9fe4ffa0c946e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64f6c5f8a8487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62ace5f4b44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8eff65cab240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315F3B-9CC4-4280-BD8A-15BBBF8C7E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912F2B-E016-4B31-AB62-880FA18681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EE94485-93C4-40F9-9DA2-8800A7B5D7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B9522E-0468-47D7-BE56-ACD87B663B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5915FB-8BED-4098-9615-C39E7F4A8F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03AC63-B1AD-4499-A6C1-7E1E77AE56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F11DCE-8870-467F-89BA-9649A84E52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B1BAB37-11CC-4093-B0B8-DC5BF58952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4FF63B-DE77-4E99-8B24-7B98C06975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0EDC38E-B949-471D-BFFD-102EA2CFC7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f4169173844f25" /><Relationship Type="http://schemas.openxmlformats.org/officeDocument/2006/relationships/slideLayout" Target="/ppt/slideLayouts/slideLayout1.xml" Id="Rf2bacaa675eb4e32" /><Relationship Type="http://schemas.openxmlformats.org/officeDocument/2006/relationships/slideLayout" Target="/ppt/slideLayouts/slideLayout2.xml" Id="Rd256fdcaf6394d5d" /><Relationship Type="http://schemas.openxmlformats.org/officeDocument/2006/relationships/slideLayout" Target="/ppt/slideLayouts/slideLayout3.xml" Id="Rd3f3f7b95e114ecd" /><Relationship Type="http://schemas.openxmlformats.org/officeDocument/2006/relationships/slideLayout" Target="/ppt/slideLayouts/slideLayout4.xml" Id="R1ab1b612cfb445aa" /><Relationship Type="http://schemas.openxmlformats.org/officeDocument/2006/relationships/slideLayout" Target="/ppt/slideLayouts/slideLayout5.xml" Id="R5b5ae20a7c824fe6" /><Relationship Type="http://schemas.openxmlformats.org/officeDocument/2006/relationships/slideLayout" Target="/ppt/slideLayouts/slideLayout6.xml" Id="R85ea53c96b8c42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bacaa675eb4e32"/>
    <p:sldLayoutId xmlns:r="http://schemas.openxmlformats.org/officeDocument/2006/relationships" id="2147483650" r:id="Rd256fdcaf6394d5d"/>
    <p:sldLayoutId xmlns:r="http://schemas.openxmlformats.org/officeDocument/2006/relationships" id="2147483651" r:id="Rd3f3f7b95e114ecd"/>
    <p:sldLayoutId xmlns:r="http://schemas.openxmlformats.org/officeDocument/2006/relationships" id="2147483652" r:id="R1ab1b612cfb445aa"/>
    <p:sldLayoutId xmlns:r="http://schemas.openxmlformats.org/officeDocument/2006/relationships" id="2147483653" r:id="R5b5ae20a7c824fe6"/>
    <p:sldLayoutId xmlns:r="http://schemas.openxmlformats.org/officeDocument/2006/relationships" id="2147483654" r:id="R85ea53c96b8c42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c81bc032a64347" /><Relationship Type="http://schemas.openxmlformats.org/officeDocument/2006/relationships/image" Target="/ppt/media/image.png" Id="Rbfa5198368ad4553" /><Relationship Type="http://schemas.openxmlformats.org/officeDocument/2006/relationships/notesSlide" Target="/ppt/notesSlides/notesSlide1.xml" Id="Ra83f9ac553b34b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be7f6e82754246" /><Relationship Type="http://schemas.openxmlformats.org/officeDocument/2006/relationships/image" Target="/ppt/media/image2.png" Id="R5167db768b77473e" /><Relationship Type="http://schemas.openxmlformats.org/officeDocument/2006/relationships/notesSlide" Target="/ppt/notesSlides/notesSlide2.xml" Id="Rc7335512296e45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ecd512623b403e" /><Relationship Type="http://schemas.openxmlformats.org/officeDocument/2006/relationships/notesSlide" Target="/ppt/notesSlides/notesSlide3.xml" Id="R05a9fcfbc4a445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1bf13d03724184" /><Relationship Type="http://schemas.openxmlformats.org/officeDocument/2006/relationships/notesSlide" Target="/ppt/notesSlides/notesSlide4.xml" Id="R6271767b105b45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654ae9111c4b1a" /><Relationship Type="http://schemas.openxmlformats.org/officeDocument/2006/relationships/notesSlide" Target="/ppt/notesSlides/notesSlide5.xml" Id="Rdc4c8a978e0c44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a3562de17d4756" /><Relationship Type="http://schemas.openxmlformats.org/officeDocument/2006/relationships/notesSlide" Target="/ppt/notesSlides/notesSlide6.xml" Id="R885a662976fb4a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84e3204a6d494f" /><Relationship Type="http://schemas.openxmlformats.org/officeDocument/2006/relationships/notesSlide" Target="/ppt/notesSlides/notesSlide7.xml" Id="Ra23f4bb16b654f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9fd954cc944ae" /><Relationship Type="http://schemas.openxmlformats.org/officeDocument/2006/relationships/notesSlide" Target="/ppt/notesSlides/notesSlide8.xml" Id="R0784847163d54f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4cafd046984ab4" /><Relationship Type="http://schemas.openxmlformats.org/officeDocument/2006/relationships/notesSlide" Target="/ppt/notesSlides/notesSlide9.xml" Id="R9fb8a221d5a54b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B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E50D9-F06E-43C3-9F42-3A51B0AB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78EFB-E463-4A24-88FD-7B2A8CC8F9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5198368ad4553"/>
          <a:srcRect xmlns:a="http://schemas.openxmlformats.org/drawingml/2006/main" l="21599" t="0" r="2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0"/>
            <a:ext cx="10382250" cy="10287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558B8-CB99-4D4B-B64D-E28FACD9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6677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E1412-EB50-4864-8409-DFEB0FCA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95400"/>
            <a:ext cx="723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9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37D24-CABE-4D82-8951-B42C6762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57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B8D7F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8D7F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8D7F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8D7F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8D7F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8D7F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8D7F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8D7F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8D7F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8D7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B8D7F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D7F7"/>
                </a:solidFill>
                <a:latin typeface="Arial"/>
                <a:ea typeface="Arial"/>
                <a:cs typeface="Arial"/>
              </a:rPr>
              <a:t>TIKILENS  /  ANALYTICS WORKSPACE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13728-1AE5-4AA6-881B-D5642113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6953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806"/>
          </a:bodyPr>
          <a:lstStyle xmlns:a="http://schemas.openxmlformats.org/drawingml/2006/main">
            <a:def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Phân tích thương mại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điện tử trên Tiki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F6F6B-330D-4F90-854C-F98FCF17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0070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707"/>
          </a:bodyPr>
          <a:lstStyle xmlns:a="http://schemas.openxmlformats.org/drawingml/2006/main">
            <a:defPPr algn="l">
              <a:defRPr sz="2550" b="0">
                <a:solidFill>
                  <a:srgbClr val="D9E8F8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D9E8F8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D9E8F8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D9E8F8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D9E8F8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D9E8F8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D9E8F8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D9E8F8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D9E8F8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D9E8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D9E8F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9E8F8"/>
                </a:solidFill>
                <a:latin typeface="Arial"/>
                <a:ea typeface="Arial"/>
                <a:cs typeface="Arial"/>
              </a:rPr>
              <a:t>Một không gian thống nhất để đọc hiệu quả sản phẩm,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D9E8F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9E8F8"/>
                </a:solidFill>
                <a:latin typeface="Arial"/>
                <a:ea typeface="Arial"/>
                <a:cs typeface="Arial"/>
              </a:rPr>
              <a:t>nhà bán và phản hồi khách hàng.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5C95D-0826-410E-9514-B451A44E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0"/>
            <a:ext cx="19526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4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D75DC-9007-4A28-B97B-634200A5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439025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EAF4FF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EAF4FF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EAF4FF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EAF4FF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EAF4FF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EAF4FF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EAF4FF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EAF4FF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EAF4FF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EAF4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EAF4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AF4FF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5AD3B-B23D-4B08-8065-01B8055C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7429500"/>
            <a:ext cx="2667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4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3A0A4-7E27-4D13-8296-E261C52E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7439025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EAF4FF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EAF4FF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EAF4FF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EAF4FF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EAF4FF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EAF4FF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EAF4FF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EAF4FF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EAF4FF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EAF4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EAF4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AF4FF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0B5D7-EA27-4AF9-AE9E-99ED47F2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85825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B8D7F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B8D7F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B8D7F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B8D7F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B8D7F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B8D7F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B8D7F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B8D7F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B8D7F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B8D7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B8D7F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D7F7"/>
                </a:solidFill>
                <a:latin typeface="Arial"/>
                <a:ea typeface="Arial"/>
                <a:cs typeface="Arial"/>
              </a:rPr>
              <a:t>Đồ án Big Data  ·  Học kỳ 1, 2026–2027  ·  Nhóm 08</a:t>
            </a:r>
          </a:p>
        </p:txBody>
      </p:sp>
    </p:spTree>
    <p:extLst>
      <p:ext uri="{BB962C8B-B14F-4D97-AF65-F5344CB8AC3E}">
        <p14:creationId xmlns:p14="http://schemas.microsoft.com/office/powerpoint/2010/main" val="6530868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0A9FF1-131A-4866-8964-8C2372A0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9E8"/>
                </a:solidFill>
                <a:latin typeface="Arial"/>
                <a:ea typeface="Arial"/>
                <a:cs typeface="Arial"/>
              </a:rPr>
              <a:t>01  ·  TRẢI NGHIỆM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EA238-F5E5-41A5-8427-69079C66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52500"/>
            <a:ext cx="16154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Từ đăng nhập đến phân tích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81CCC-E490-4E41-B7F3-5DC8AE83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607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Giao diện truy cập gọn, các chức năng tập trung trong một workspace.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07E93-174A-4DC4-9C6B-EFB76B59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696450"/>
            <a:ext cx="1615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860F0-E7DA-43EA-90D9-5B6A6EA6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82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TIKILENS  /  NHÓM 08  /  BIG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B69DC-CCF0-4F02-9665-A28EE628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906000" cy="5429250"/>
          </a:xfrm>
          <a:prstGeom xmlns:a="http://schemas.openxmlformats.org/drawingml/2006/main" prst="roundRect">
            <a:avLst>
              <a:gd name="adj" fmla="val 1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E1ED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724DD-7ED4-45E4-9D79-80F1920FBD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7db768b77473e"/>
          <a:srcRect xmlns:a="http://schemas.openxmlformats.org/drawingml/2006/main" l="1056" t="0" r="10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0150" y="2895600"/>
            <a:ext cx="9639300" cy="51625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33B12-0771-49D6-AB6D-FAD7F273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8765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9E8"/>
                </a:solidFill>
                <a:latin typeface="Arial"/>
                <a:ea typeface="Arial"/>
                <a:cs typeface="Arial"/>
              </a:rPr>
              <a:t>LUỒNG SỬ DỤNG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DE48D-29CF-4D1C-846D-359BE850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581400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9FD1A-D8CD-423C-B3EE-7B2F6C1B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58140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9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92534A-9EFA-4D38-96B8-0170ED5A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5909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Đăng nhập hoặc đăng ký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B373B-A97E-4985-9525-D46420F7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010025"/>
            <a:ext cx="4457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Tài khoản được xác thực trước khi mở dữ liệu.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2A2C9-50A8-49F9-9071-E3BF920F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48250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4541E-20F4-43B6-A3C3-E2A9EF7F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4825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9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10DB52-FE8E-48C0-9DB5-C759702C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0577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Chọn khu vực làm việc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BB3FED-F00F-4DBE-B76B-9AE6BC3C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476875"/>
            <a:ext cx="4457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Dashboard, khám phá, chất lượng, phân cụm, dự báo, bất thường và quản trị.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130E3-68F0-40E1-BDCB-D28FEB6B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515100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3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70F176-D6AE-4D12-BE4A-40486109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51510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9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56ED8E-7D2C-44B2-B0FB-4BB32326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65246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Lọc rồi phân tích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D2BF84-1147-4228-BAEB-967A75D8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6943725"/>
            <a:ext cx="4457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Áp dụng bộ lọc chung, đọc KPI, biểu đồ và bảng chi tiết.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933B33-C8AD-4029-8F95-746CE805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2677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Ảnh giao diện đăng nhập TikiLens</a:t>
            </a:r>
          </a:p>
        </p:txBody>
      </p:sp>
    </p:spTree>
    <p:extLst>
      <p:ext uri="{BB962C8B-B14F-4D97-AF65-F5344CB8AC3E}">
        <p14:creationId xmlns:p14="http://schemas.microsoft.com/office/powerpoint/2010/main" val="2340473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72F9847-FB84-4046-9290-61D23AAE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9E8"/>
                </a:solidFill>
                <a:latin typeface="Arial"/>
                <a:ea typeface="Arial"/>
                <a:cs typeface="Arial"/>
              </a:rPr>
              <a:t>02  · 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354C5-A1F6-448B-AD06-FD5A7F82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52500"/>
            <a:ext cx="16154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Sức khỏe kinh doanh trong một màn hình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043F0-190B-4D3B-8C84-2F22F79E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607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Số liệu được đọc trực tiếp từ dashboard Cloud ngày 31/10/2026; thay đổi theo phạm vi bộ lọc.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F973C-AFDA-4838-94F0-43F2E1F2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696450"/>
            <a:ext cx="1615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7C1DD-D8BC-46C0-858A-913BAEAB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82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TIKILENS  /  NHÓM 08  /  BIG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18E65-72BE-4231-880C-D5F54649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2549525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E1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12212-3955-4817-93E4-854AD112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736EA-1881-4D64-A6FA-DD4B42FE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52725"/>
            <a:ext cx="2130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Doanh thu ước tính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B0FE8-F554-47DC-9480-397E82F6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05150"/>
            <a:ext cx="2130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6963"/>
          </a:bodyPr>
          <a:lstStyle xmlns:a="http://schemas.openxmlformats.org/drawingml/2006/main">
            <a:def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1,23 nghìn tỷ 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487F1-CEC2-4785-A45E-3A3AAD81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24275"/>
            <a:ext cx="2149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tính từ giá × lượng bán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7369A-25E4-43F5-A437-1CB1C3DD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775" y="2609850"/>
            <a:ext cx="2549525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E1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D0F95-65A1-4C88-9D5A-F8488666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775" y="260985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B1853-6B15-41BF-946A-21BA6219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375" y="2752725"/>
            <a:ext cx="2130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Sản phẩm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CE84C-BC6A-4D4E-A71B-9C1D4944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375" y="3105150"/>
            <a:ext cx="2130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2.307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98C9CF-559D-4F94-B779-414CAEF5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375" y="3724275"/>
            <a:ext cx="2149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trong ảnh chụp dữ liệu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85EA6-638F-4F8A-82FA-40217E0B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750" y="2609850"/>
            <a:ext cx="2549525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E1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17B0C3-0311-4025-AFBD-B677E81E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750" y="260985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34263D-7152-490C-BA6B-0D3AD8E0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7350" y="2752725"/>
            <a:ext cx="2130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Đã bán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27C1C6-B512-4FB1-B7BF-AB3AA5E2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7350" y="3105150"/>
            <a:ext cx="2130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6.537.963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80AE70-9208-4E9F-90E3-20F5BD57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7350" y="3724275"/>
            <a:ext cx="2149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lượng bán tích lũy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C00AC0-A98B-420E-A524-3223E252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609850"/>
            <a:ext cx="2549525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E1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28B101-5BA7-4117-98B5-4C252817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60985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3B41B6-4EEF-4948-BDFE-00B2BA1F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752725"/>
            <a:ext cx="2130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Lượt đánh giá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1DB62C-919D-4525-B15E-2568DF81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105150"/>
            <a:ext cx="2130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35.632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56F1FD-ED01-4F00-8706-82F555E9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724275"/>
            <a:ext cx="2149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đánh giá liên quan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961E3F-97D5-49DC-AE88-FBA74AFF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2609850"/>
            <a:ext cx="2549525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E1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1926F1-6722-4B58-94F3-DBBC889F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260985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BFD202-4DB8-4EA8-AE00-AFA563FD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9300" y="2752725"/>
            <a:ext cx="2130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Điểm đánh giá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508CD0-29F4-4B1D-BA64-F748BA27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9300" y="3105150"/>
            <a:ext cx="2130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4,59 / 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92FB0F-B442-42B1-82C5-C00454D0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9300" y="3724275"/>
            <a:ext cx="2149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trung bình sản phẩm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D115E1-2560-4EB5-82A4-D3050D92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1675" y="2609850"/>
            <a:ext cx="2549525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E1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B85769-22EC-4671-BA5F-21B765FD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1675" y="260985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5BB347-3988-4CF6-BD68-DC075527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0275" y="2752725"/>
            <a:ext cx="2130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Nhà bán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299F32-51B0-409F-8DF8-CF7D04D8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0275" y="3105150"/>
            <a:ext cx="2130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315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5ACE36-F69B-4208-9021-1B349545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0275" y="3724275"/>
            <a:ext cx="2149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nhà bán có dữ liệu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2B2830-FCEB-4B54-8DE0-C43F9A1B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DOANH THU ƯỚC TÍNH THEO DANH MỤC  ·  TỶ VNĐ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5FFDB8-2EA1-4DBE-9F31-166BB78E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F4E"/>
                </a:solidFill>
                <a:latin typeface="Arial"/>
                <a:ea typeface="Arial"/>
                <a:cs typeface="Arial"/>
              </a:rPr>
              <a:t>Làm đẹp – sức khỏe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C3C2A5-B331-4D5B-B02C-B8D0F619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76825"/>
            <a:ext cx="657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B7D122-1A48-4A9E-B569-7DF10127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76825"/>
            <a:ext cx="6449517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08A185-14F4-4EF4-8D96-77F9CE5F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038725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422.0 tỷ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619FF7-A2A3-479D-8528-FE5EDE2B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673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F4E"/>
                </a:solidFill>
                <a:latin typeface="Arial"/>
                <a:ea typeface="Arial"/>
                <a:cs typeface="Arial"/>
              </a:rPr>
              <a:t>Điện thoại – máy tính bảng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0C82BF-DB90-4C56-870C-158B1259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695950"/>
            <a:ext cx="657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9EF7BD-4F56-43ED-A5D8-0D2A0622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695950"/>
            <a:ext cx="403306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7A0575-9DC7-44C4-8ADB-37D1B9E4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6578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263.9 tỷ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932D06-F3EE-4CC3-BC93-90A39380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86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F4E"/>
                </a:solidFill>
                <a:latin typeface="Arial"/>
                <a:ea typeface="Arial"/>
                <a:cs typeface="Arial"/>
              </a:rPr>
              <a:t>Điện gia dụng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560E2D-DFF0-4008-AE55-85EF2975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315075"/>
            <a:ext cx="657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62F46E-35A5-4FC2-B227-5C5835A8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315075"/>
            <a:ext cx="264449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8271DC-FF87-4B2E-B8E2-DC0D5FB5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76975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173.0 tỷ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1FD9674-F6B7-497C-A3FF-3F8F352D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905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Nhà sách Tiki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02B8D6-486D-42F6-B5CC-C931386E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934200"/>
            <a:ext cx="657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E57C92-B5BB-405D-A3A9-4E3E8F55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934200"/>
            <a:ext cx="2256269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8B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4DE501A-F764-4CCD-9183-6979FFEE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89610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147.6 tỷ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01D43D-F051-498B-8F1E-C2435E0F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524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Bách hóa online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654DB1B-D44F-489F-B759-A7670C4E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657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191AC34-8528-4AA4-9D53-27425570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1183311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8B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D2302B-3E15-437F-BCAF-4ECD974F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7515225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77.4 tỷ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C82569B-4BEF-4477-B7C1-43D3C31E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143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Nhà cửa – đời sống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10DC3BA-547E-4A81-9E4F-B2540003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172450"/>
            <a:ext cx="657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E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D57FB02-D86E-4D33-8885-5CB98530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172450"/>
            <a:ext cx="1116213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8B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9765F4F-194E-485D-91E0-DCE5E99F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81343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73.0 tỷ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D662392-EF80-4F38-B7AF-28B31E54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4686300"/>
            <a:ext cx="409575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082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B27F1FB-E1B3-48D9-B17B-AF634CAA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51435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69,9%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A5F9090-248C-4FE2-AD80-4C591D11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6286500"/>
            <a:ext cx="323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575"/>
          </a:bodyPr>
          <a:lstStyle xmlns:a="http://schemas.openxmlformats.org/drawingml/2006/main">
            <a:defPPr algn="l">
              <a:defRPr sz="2250" b="1">
                <a:solidFill>
                  <a:srgbClr val="D5E9F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D5E9F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D5E9F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D5E9F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D5E9F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D5E9F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D5E9F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D5E9F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D5E9F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D5E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D5E9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5E9FA"/>
                </a:solidFill>
                <a:latin typeface="Arial"/>
                <a:ea typeface="Arial"/>
                <a:cs typeface="Arial"/>
              </a:rPr>
              <a:t>doanh thu ước tính đến từ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D5E9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5E9FA"/>
                </a:solidFill>
                <a:latin typeface="Arial"/>
                <a:ea typeface="Arial"/>
                <a:cs typeface="Arial"/>
              </a:rPr>
              <a:t>3 danh mục dẫn đầu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3D38F11-3D78-4F2E-89E8-981C397B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75247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3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8B209FB-F47A-4792-83FF-0E71D30C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773430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C7D9E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C7D9E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C7D9E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C7D9E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C7D9E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C7D9E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C7D9E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C7D9E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C7D9E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C7D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C7D9E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7D9EA"/>
                </a:solidFill>
                <a:latin typeface="Arial"/>
                <a:ea typeface="Arial"/>
                <a:cs typeface="Arial"/>
              </a:rPr>
              <a:t>Doanh thu phản ánh giá × lượng bán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C7D9E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7D9EA"/>
                </a:solidFill>
                <a:latin typeface="Arial"/>
                <a:ea typeface="Arial"/>
                <a:cs typeface="Arial"/>
              </a:rPr>
              <a:t>tại thời điểm chụp, không phải chuỗi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C7D9E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7D9EA"/>
                </a:solidFill>
                <a:latin typeface="Arial"/>
                <a:ea typeface="Arial"/>
                <a:cs typeface="Arial"/>
              </a:rPr>
              <a:t>doanh số theo thời gian.</a:t>
            </a:r>
          </a:p>
        </p:txBody>
      </p:sp>
    </p:spTree>
    <p:extLst>
      <p:ext uri="{BB962C8B-B14F-4D97-AF65-F5344CB8AC3E}">
        <p14:creationId xmlns:p14="http://schemas.microsoft.com/office/powerpoint/2010/main" val="3913078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A69133-A991-4551-8EBB-E34D2015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9E8"/>
                </a:solidFill>
                <a:latin typeface="Arial"/>
                <a:ea typeface="Arial"/>
                <a:cs typeface="Arial"/>
              </a:rPr>
              <a:t>03  ·  KHÁM PHÁ DỮ LIỆU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B68A0-EDDA-476D-9ADE-D3013B25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52500"/>
            <a:ext cx="16154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Một bộ lọc chung, phạm vi rõ ràng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BC6BA-4093-483C-8073-2567A05D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607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Các lựa chọn lọc được áp dụng nhất quán; mỗi bộ lọc chỉ tác động đến đúng tập dữ liệu liên quan.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B3A54-E9CD-45E4-82B1-17E3B917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696450"/>
            <a:ext cx="1615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B454C-75AC-400C-B09A-FA17BFDA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82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TIKILENS  /  NHÓM 08  /  BIG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888A8-DCE4-4EA1-A726-5A4028DD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8572500" cy="5829300"/>
          </a:xfrm>
          <a:prstGeom xmlns:a="http://schemas.openxmlformats.org/drawingml/2006/main" prst="roundRect">
            <a:avLst>
              <a:gd name="adj" fmla="val 13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E1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E8023-8310-4302-AC21-F99617BC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9E8"/>
                </a:solidFill>
                <a:latin typeface="Arial"/>
                <a:ea typeface="Arial"/>
                <a:cs typeface="Arial"/>
              </a:rPr>
              <a:t>BỘ LỌC PHÂN TÍCH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7241D-2BA4-40A5-9AAB-5E26B6A9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Danh mục chính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405C4-25D9-439A-937C-23740B86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619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E29AE2-D75E-42E6-9B62-E84B47CC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1480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Tất cả danh mục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93325-F478-4CCE-B923-2DA90DF5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05275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B6935-CD76-4315-9EB6-FB7AC27F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14750"/>
            <a:ext cx="3886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TikiNOW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D0B8A-9D07-4F6C-8A13-9392B733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76700"/>
            <a:ext cx="3886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F8374-C13F-465A-B0B9-4542CF0F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14800"/>
            <a:ext cx="337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Tất cả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41BC4-6739-4169-B6C4-19C30BF0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05275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2795B4-1C76-44E0-8F75-3AD31FC4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Freeship Xtra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F1CF2-A1B4-44E2-8090-8AD40069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24450"/>
            <a:ext cx="3619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3A051-F220-49B4-9035-9ECD8A07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6255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Tất cả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8E9CD8-76AC-4DF3-A692-92B87118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53025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A8727A-8EBC-4793-B59D-374BC2B9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762500"/>
            <a:ext cx="3886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Giá từ (VNĐ)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B624F8-7497-412A-858E-C9C277E0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124450"/>
            <a:ext cx="3886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90A63F-85E9-45F5-ADA8-64E7D5B5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62550"/>
            <a:ext cx="337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3.750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740603-EBC7-44B7-8F9B-19604CAC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Giá đến (VNĐ)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D7090B-035B-4455-A050-1432AEEE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72200"/>
            <a:ext cx="3619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BA43D6-D0F8-4F68-BBFC-1683E6EE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21030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61.490.000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7FD0F6-0377-42D7-AECF-BC4A8897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810250"/>
            <a:ext cx="3886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Khoảng ngày đánh giá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9D0CBF-44DA-4942-9EE2-EA25A04B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172200"/>
            <a:ext cx="3886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C6AB5C-5E16-44ED-BF4C-C671D251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210300"/>
            <a:ext cx="337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08/04/2015  —  01/10/2026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94C793-5E50-4CE3-A962-EC05F1B9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19950"/>
            <a:ext cx="7810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A7E5CF-F290-44C6-A08A-E1DFBC03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199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Áp dụng bộ lọc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9AFC5D-7490-4BE2-9153-D5849DB1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908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9E8"/>
                </a:solidFill>
                <a:latin typeface="Arial"/>
                <a:ea typeface="Arial"/>
                <a:cs typeface="Arial"/>
              </a:rPr>
              <a:t>PHẠM VI TÁC ĐỘNG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5689FA-AD36-4402-9530-2D511730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38550"/>
            <a:ext cx="67627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E1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FB4434-2399-4918-8782-099684B5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38550"/>
            <a:ext cx="1143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E9C1A6-1D88-4D44-8958-EA7F6077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92430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9E8"/>
                </a:solidFill>
                <a:latin typeface="Arial"/>
                <a:ea typeface="Arial"/>
                <a:cs typeface="Arial"/>
              </a:rPr>
              <a:t>SẢN PHẨM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5FC4E2-7C18-43C6-988A-F6D1C342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3624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Danh mục  ·  Giá  ·  TikiNOW  ·  Freeship Xtra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D7F656-1233-47E8-81B3-27645BD5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95850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Tác động đến KPI kinh doanh, danh mục và bảng sản phẩm.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59ABD0-92AE-420D-971D-88878217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867400"/>
            <a:ext cx="67627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E1E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9A5FF4-A795-4501-83E9-10D51D1D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867400"/>
            <a:ext cx="1143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44BDF5-30C6-4C69-8088-97943930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5315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A534"/>
                </a:solidFill>
                <a:latin typeface="Arial"/>
                <a:ea typeface="Arial"/>
                <a:cs typeface="Arial"/>
              </a:rPr>
              <a:t>ĐÁNH GIÁ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AC68C6-CBA7-41F5-AD35-415BE1CD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913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Khoảng ngày đánh giá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7A5350-2E8C-4597-8C12-79FB61F5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12470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Chỉ thay đổi số liệu phản hồi; không làm sai lệch doanh thu ước tính.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7F5EF5-9ADE-4872-A100-8441AB4C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826770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Ảnh chụp tại Cloud: 2.307 / 2.307 sản phẩm  ·  35.632 / 35.632 đánh giá</a:t>
            </a:r>
          </a:p>
        </p:txBody>
      </p:sp>
    </p:spTree>
    <p:extLst>
      <p:ext uri="{BB962C8B-B14F-4D97-AF65-F5344CB8AC3E}">
        <p14:creationId xmlns:p14="http://schemas.microsoft.com/office/powerpoint/2010/main" val="11820192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40EF1B-F3A3-4708-9A22-0226E36C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9E8"/>
                </a:solidFill>
                <a:latin typeface="Arial"/>
                <a:ea typeface="Arial"/>
                <a:cs typeface="Arial"/>
              </a:rPr>
              <a:t>04  ·  PHÂN CỤM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3B932-5233-4762-9920-1AD9B699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52500"/>
            <a:ext cx="16154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Hai góc nhìn, hai đối tượng phân tích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CA6B2-53C1-4927-801A-69E08FB8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607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K-Means nhóm các đối tượng tương đồng sau khi chuẩn hóa đặc trưng; số cụm do người dùng chọn.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EC97B-67C2-459E-A147-04861459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696450"/>
            <a:ext cx="1615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47FA2-E0EE-43E4-A9D6-02F13025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82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TIKILENS  /  NHÓM 08  /  BIG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FFF0C-A7AE-411C-BDB2-145BFE38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7810500" cy="5734050"/>
          </a:xfrm>
          <a:prstGeom xmlns:a="http://schemas.openxmlformats.org/drawingml/2006/main" prst="roundRect">
            <a:avLst>
              <a:gd name="adj" fmla="val 1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E1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6BE27-C04B-462E-A81B-69788959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7810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1F002-D956-46FF-AAD1-367C0E3C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051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9E8"/>
                </a:solidFill>
                <a:latin typeface="Arial"/>
                <a:ea typeface="Arial"/>
                <a:cs typeface="Arial"/>
              </a:rPr>
              <a:t>SELLER CLUSTERING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6BBE8-6EBA-4A41-98CA-10891F38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Nhà bán hàng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8B304-E14A-4B4A-99B4-B1D2282E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386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ĐẶC TRƯNG ĐẦU VÀO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A37F1-A1E6-4338-B686-01229C9D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33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41C77-999C-4278-8D5D-86CDA110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8155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Số sản phẩm trong danh mục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3C203-712F-4CBA-8130-A74762D7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29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7981B-A4AC-4A54-AEE5-F83A0397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7685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Lượng bán tích lũy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646E03-93BC-4225-98D4-DA81DA9A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24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52B51-BFB5-4F31-8E26-F7EF3A26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7215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Doanh thu ước tính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2C41B-B2C6-4781-A515-F9EB5EB8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419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9DB75-BC15-428D-A16A-BF8589A2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26745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Lượt đánh giá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A5EA6-6FCD-4945-9D06-ED085FEA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915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A2B94D-2F23-4A6C-836F-43AE4854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76275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Điểm đánh giá trung bình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64FC79-854F-4B59-97C2-058BE9C9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52475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225BC4-C923-4BE7-86D2-A3C984C8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677150"/>
            <a:ext cx="697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Đọc quy mô và hiệu quả danh mục tại thời điểm chụp.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5EC2EB-F257-49A3-A04C-1A850D0A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24150"/>
            <a:ext cx="7810500" cy="5734050"/>
          </a:xfrm>
          <a:prstGeom xmlns:a="http://schemas.openxmlformats.org/drawingml/2006/main" prst="roundRect">
            <a:avLst>
              <a:gd name="adj" fmla="val 1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E1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D30467-7695-4315-82FA-48ABBE24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24150"/>
            <a:ext cx="7810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B7E048-A8E7-4561-A5F0-83A73D10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051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68A96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68A96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68A96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68A96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68A96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68A96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68A96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68A96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68A96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68A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68A9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A96"/>
                </a:solidFill>
                <a:latin typeface="Arial"/>
                <a:ea typeface="Arial"/>
                <a:cs typeface="Arial"/>
              </a:rPr>
              <a:t>CUSTOMER CLUSTERING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4A9A16-76F6-4DA4-9E6A-DDBEBE2A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2425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Khách hàng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4C35DA-FD4E-453C-BCDB-94305402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386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ĐẶC TRƯNG ĐẦU VÀO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CB07E5-6675-4B5D-8680-67BEE8C7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33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874E2A-4775-45D4-BADF-E78697A2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78155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Tần suất đánh giá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F42EE7-D941-47E6-B6E0-1A07F7EA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29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949617-8AAF-41DD-8222-DACBE611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7685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Điểm đánh giá trung bình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26DEA4-E1AB-462F-B3B8-805FF736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24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D198A7-26D5-42D0-91A1-E10FE890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77215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Độ biến động điểm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5A34AC-FF24-4429-8340-D7DDF981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2B16AE-D709-4806-AD55-B695D16D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26745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Số sản phẩm đã đánh giá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DCB592-A0EF-46ED-9B55-15A50144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915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995991-6277-4C76-9040-9F6DF9C2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76275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Tỷ lệ đánh giá tiêu cực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B8076A-08A5-40DA-B3D3-5A2E216F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52475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F3313F-00F6-47DB-B742-D0FA30C8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677150"/>
            <a:ext cx="697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Đọc hành vi phản hồi; không suy ra lịch sử chi tiêu.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E89C74-BBE7-4E97-9E79-DCAFDC5D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763000"/>
            <a:ext cx="1524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Phân cụm theo dữ liệu hiện có  ·  Không phải phân nhóm RFM giao dịch theo thời gian</a:t>
            </a:r>
          </a:p>
        </p:txBody>
      </p:sp>
    </p:spTree>
    <p:extLst>
      <p:ext uri="{BB962C8B-B14F-4D97-AF65-F5344CB8AC3E}">
        <p14:creationId xmlns:p14="http://schemas.microsoft.com/office/powerpoint/2010/main" val="18025327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C4DCCB-DAE6-4863-B2ED-45F4240F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9E8"/>
                </a:solidFill>
                <a:latin typeface="Arial"/>
                <a:ea typeface="Arial"/>
                <a:cs typeface="Arial"/>
              </a:rPr>
              <a:t>05  ·  DỰ BÁO / ĐÁNH GIÁ MÔ HÌNH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CA22D-8D74-4A42-BDCB-005CC293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52500"/>
            <a:ext cx="16154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Đọc đúng chất lượng mô hình hồi quy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AAEEC-09D5-4C93-BD96-AFCAFCB0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607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Random Forest 100 cây · đánh giá trên tập kiểm tra giữ lại · dữ liệu tham chiếu Chương 4.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289A2-DBE9-4163-A231-ECE8B7F2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696450"/>
            <a:ext cx="1615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21C6E-99A7-4BEC-8EBB-609313BE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82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TIKILENS  /  NHÓM 08  /  BIG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CA80E-30AD-45FE-A2F2-9D92B454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4953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E1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E1ED5-D60D-44D9-A34C-13D6BC0B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301B0-9084-453C-9F96-38A0B8FD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67025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ED29A-7E58-4A5B-A889-6D89BB44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1945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3.248,35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36617-078C-416C-AF86-B270C822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38575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số bán trung bình lệch tuyệt đối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7DF76-3449-416F-B59F-FCFF19FC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4953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E1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8B391-CD65-48EA-A464-3712354D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FDCEF-2CBC-410F-A387-37EC5F0D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67025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RMSE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43A72-9262-447A-B59D-B0A190AF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1945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14.561,49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4C225-E546-422E-A751-2677FD15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38575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nhạy hơn với sai số lớn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770E4-AEFD-4165-A594-02A839A4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724150"/>
            <a:ext cx="4953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E1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233350-17E6-4235-869F-9DE09EC6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72415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C75F3E-20CB-4498-92D1-E26A1396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2867025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R²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ABA895-C144-46B3-B93F-08BB742B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321945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0,271445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D7732-0BD8-4672-8ACC-DE525E9D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3838575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27,1% biến thiên được giải thích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C445A3-95CD-4659-BDDF-C2A056E8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95850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40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40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40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40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40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40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40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40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40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2.307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106FB9-7C56-41A7-ADA0-DC3188ED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435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sản phẩm đủ dữ liệu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9EF7FF-6821-4A11-B713-FBE4D1AD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958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defPPr>
            <a:lvl1pPr algn="l">
              <a:defRPr sz="40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1pPr>
            <a:lvl2pPr algn="l">
              <a:defRPr sz="40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2pPr>
            <a:lvl3pPr algn="l">
              <a:defRPr sz="40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3pPr>
            <a:lvl4pPr algn="l">
              <a:defRPr sz="40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4pPr>
            <a:lvl5pPr algn="l">
              <a:defRPr sz="40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5pPr>
            <a:lvl6pPr algn="l">
              <a:defRPr sz="40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6pPr>
            <a:lvl7pPr algn="l">
              <a:defRPr sz="40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7pPr>
            <a:lvl8pPr algn="l">
              <a:defRPr sz="40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8pPr>
            <a:lvl9pPr algn="l">
              <a:defRPr sz="40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879E8"/>
                </a:solidFill>
                <a:latin typeface="Arial"/>
                <a:ea typeface="Arial"/>
                <a:cs typeface="Arial"/>
              </a:rPr>
              <a:t>1.845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3C3103-6436-4046-BDE9-B347180D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435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huấn luyện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BE5689-2CB4-4D72-8983-0160D097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8958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168A96"/>
                </a:solidFill>
                <a:latin typeface="Arial"/>
                <a:ea typeface="Arial"/>
                <a:cs typeface="Arial"/>
              </a:defRPr>
            </a:defPPr>
            <a:lvl1pPr algn="l">
              <a:defRPr sz="4050" b="1">
                <a:solidFill>
                  <a:srgbClr val="168A96"/>
                </a:solidFill>
                <a:latin typeface="Arial"/>
                <a:ea typeface="Arial"/>
                <a:cs typeface="Arial"/>
              </a:defRPr>
            </a:lvl1pPr>
            <a:lvl2pPr algn="l">
              <a:defRPr sz="4050" b="1">
                <a:solidFill>
                  <a:srgbClr val="168A96"/>
                </a:solidFill>
                <a:latin typeface="Arial"/>
                <a:ea typeface="Arial"/>
                <a:cs typeface="Arial"/>
              </a:defRPr>
            </a:lvl2pPr>
            <a:lvl3pPr algn="l">
              <a:defRPr sz="4050" b="1">
                <a:solidFill>
                  <a:srgbClr val="168A96"/>
                </a:solidFill>
                <a:latin typeface="Arial"/>
                <a:ea typeface="Arial"/>
                <a:cs typeface="Arial"/>
              </a:defRPr>
            </a:lvl3pPr>
            <a:lvl4pPr algn="l">
              <a:defRPr sz="4050" b="1">
                <a:solidFill>
                  <a:srgbClr val="168A96"/>
                </a:solidFill>
                <a:latin typeface="Arial"/>
                <a:ea typeface="Arial"/>
                <a:cs typeface="Arial"/>
              </a:defRPr>
            </a:lvl4pPr>
            <a:lvl5pPr algn="l">
              <a:defRPr sz="4050" b="1">
                <a:solidFill>
                  <a:srgbClr val="168A96"/>
                </a:solidFill>
                <a:latin typeface="Arial"/>
                <a:ea typeface="Arial"/>
                <a:cs typeface="Arial"/>
              </a:defRPr>
            </a:lvl5pPr>
            <a:lvl6pPr algn="l">
              <a:defRPr sz="4050" b="1">
                <a:solidFill>
                  <a:srgbClr val="168A96"/>
                </a:solidFill>
                <a:latin typeface="Arial"/>
                <a:ea typeface="Arial"/>
                <a:cs typeface="Arial"/>
              </a:defRPr>
            </a:lvl6pPr>
            <a:lvl7pPr algn="l">
              <a:defRPr sz="4050" b="1">
                <a:solidFill>
                  <a:srgbClr val="168A96"/>
                </a:solidFill>
                <a:latin typeface="Arial"/>
                <a:ea typeface="Arial"/>
                <a:cs typeface="Arial"/>
              </a:defRPr>
            </a:lvl7pPr>
            <a:lvl8pPr algn="l">
              <a:defRPr sz="4050" b="1">
                <a:solidFill>
                  <a:srgbClr val="168A96"/>
                </a:solidFill>
                <a:latin typeface="Arial"/>
                <a:ea typeface="Arial"/>
                <a:cs typeface="Arial"/>
              </a:defRPr>
            </a:lvl8pPr>
            <a:lvl9pPr algn="l">
              <a:defRPr sz="4050" b="1">
                <a:solidFill>
                  <a:srgbClr val="168A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168A96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68A96"/>
                </a:solidFill>
                <a:latin typeface="Arial"/>
                <a:ea typeface="Arial"/>
                <a:cs typeface="Arial"/>
              </a:rPr>
              <a:t>462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1B0EE4-C109-4251-A916-A97F8275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5435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kiểm tra  ·  20%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649FA3-971E-4621-95B7-8F01C2D2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13906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0E9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7D015C-21F0-4B69-B780-AC9E4F03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11121583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930081-DCCC-4968-9D61-E71072DB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583" y="6191250"/>
            <a:ext cx="2784917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A5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83FC85-D68E-41DF-9056-4FDE9BE8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7627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9E8"/>
                </a:solidFill>
                <a:latin typeface="Arial"/>
                <a:ea typeface="Arial"/>
                <a:cs typeface="Arial"/>
              </a:rPr>
              <a:t>80% huấn luyện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C8E7BF-D604-408C-BC58-B13C0E67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7627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defPPr>
            <a:lvl1pPr algn="r">
              <a:defRPr sz="1725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1pPr>
            <a:lvl2pPr algn="r">
              <a:defRPr sz="1725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2pPr>
            <a:lvl3pPr algn="r">
              <a:defRPr sz="1725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3pPr>
            <a:lvl4pPr algn="r">
              <a:defRPr sz="1725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4pPr>
            <a:lvl5pPr algn="r">
              <a:defRPr sz="1725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5pPr>
            <a:lvl6pPr algn="r">
              <a:defRPr sz="1725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6pPr>
            <a:lvl7pPr algn="r">
              <a:defRPr sz="1725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7pPr>
            <a:lvl8pPr algn="r">
              <a:defRPr sz="1725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8pPr>
            <a:lvl9pPr algn="r">
              <a:defRPr sz="1725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725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A534"/>
                </a:solidFill>
                <a:latin typeface="Arial"/>
                <a:ea typeface="Arial"/>
                <a:cs typeface="Arial"/>
              </a:rPr>
              <a:t>20% kiểm tra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A798C6-C597-4B02-BFF5-7ADB2051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524750"/>
            <a:ext cx="16002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82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68A760-47FE-44DC-A787-868CC77D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696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ED2F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AED2F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AED2F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AED2F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AED2F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AED2F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AED2F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AED2F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AED2F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AED2F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AED2F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ED2F1"/>
                </a:solidFill>
                <a:latin typeface="Arial"/>
                <a:ea typeface="Arial"/>
                <a:cs typeface="Arial"/>
              </a:rPr>
              <a:t>GIỚI HẠN DIỄN GIẢI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66C4BE-A042-4489-B34A-1169B0CF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048625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686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Đây là ước lượng lượng bán theo thuộc tính sản phẩm trong ảnh chụp dữ liệu; không phải dự báo doanh số tương lai theo ngày/tháng.</a:t>
            </a:r>
          </a:p>
        </p:txBody>
      </p:sp>
    </p:spTree>
    <p:extLst>
      <p:ext uri="{BB962C8B-B14F-4D97-AF65-F5344CB8AC3E}">
        <p14:creationId xmlns:p14="http://schemas.microsoft.com/office/powerpoint/2010/main" val="6775278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995C85-DC7B-4038-8F5F-79B5A6CF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9E8"/>
                </a:solidFill>
                <a:latin typeface="Arial"/>
                <a:ea typeface="Arial"/>
                <a:cs typeface="Arial"/>
              </a:rPr>
              <a:t>06  ·  PHÁT HIỆN BẤT THƯỜNG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95DA5-BFC6-43F7-9F3F-0AB13F93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52500"/>
            <a:ext cx="16154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Tìm sản phẩm khác biệt để ưu tiên rà soát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B34FF-0138-44B2-B5CD-0A69A3E0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607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Isolation Forest chấm điểm độ khác biệt; kết quả là tín hiệu kiểm tra, không phải kết luận vi phạm.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60EB2-2D26-4D43-9DFB-B401F160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696450"/>
            <a:ext cx="1615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EF896-7E76-432E-A4E7-B64EAB86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82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TIKILENS  /  NHÓM 08  /  BIG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899DF-8BF2-43FD-96EA-C880D36A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4953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E1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0509F-2EA4-4398-8031-7BFBB03D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B5952-AD1C-4A92-96F6-1722E16E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93A06-BAD0-400A-A1B5-B05769C9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Chuẩn bị đặc trưng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CACC9-8DBE-4BA3-9E3B-2A17A83F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8630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Giá · giảm giá · lượng bán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doanh thu ước tính · lượt đánh giá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58DC4-08E2-4D9E-8091-C2EE07FA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3862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36875-5D09-4DD0-A4EE-E12F1DFE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30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defPPr>
            <a:lvl1pPr algn="ctr">
              <a:defRPr sz="30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1pPr>
            <a:lvl2pPr algn="ctr">
              <a:defRPr sz="30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2pPr>
            <a:lvl3pPr algn="ctr">
              <a:defRPr sz="30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3pPr>
            <a:lvl4pPr algn="ctr">
              <a:defRPr sz="30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4pPr>
            <a:lvl5pPr algn="ctr">
              <a:defRPr sz="30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5pPr>
            <a:lvl6pPr algn="ctr">
              <a:defRPr sz="30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6pPr>
            <a:lvl7pPr algn="ctr">
              <a:defRPr sz="30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7pPr>
            <a:lvl8pPr algn="ctr">
              <a:defRPr sz="30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8pPr>
            <a:lvl9pPr algn="ctr">
              <a:defRPr sz="30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79E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CCD3A9-8B3B-4759-AAE3-3116E722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67050"/>
            <a:ext cx="4953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E1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321C4-C0B7-423D-A703-56B69728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A5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241543-F500-41F4-9F60-B81D73EF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D9B01-077E-45A4-9420-D07EFCA3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Chọn ngưỡng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383D68-0796-4446-BA73-F8B783F8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8630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Tỷ lệ bất thường giả định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điều chỉnh 1–10% · mặc định 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E48D48-6EA4-4108-A318-8EFA82CE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23862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1ED3E0-5991-4A3A-A886-7BD4E340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962400"/>
            <a:ext cx="30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defPPr>
            <a:lvl1pPr algn="ctr">
              <a:defRPr sz="30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1pPr>
            <a:lvl2pPr algn="ctr">
              <a:defRPr sz="30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2pPr>
            <a:lvl3pPr algn="ctr">
              <a:defRPr sz="30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3pPr>
            <a:lvl4pPr algn="ctr">
              <a:defRPr sz="30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4pPr>
            <a:lvl5pPr algn="ctr">
              <a:defRPr sz="30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5pPr>
            <a:lvl6pPr algn="ctr">
              <a:defRPr sz="30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6pPr>
            <a:lvl7pPr algn="ctr">
              <a:defRPr sz="30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7pPr>
            <a:lvl8pPr algn="ctr">
              <a:defRPr sz="30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8pPr>
            <a:lvl9pPr algn="ctr">
              <a:defRPr sz="30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79E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DB2F4F-4CEC-4CA6-90B0-6F03FC17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067050"/>
            <a:ext cx="4953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E1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A3B52B-ABFB-4468-AA07-F22A15CD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33375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55334C-4548-4B2B-9651-58988340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33375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4CA444-ED8C-4F70-9A6C-6F9351EE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11480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Xem điểm &amp; hồ sơ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446DDA-609D-4146-A07D-3C8601A8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68630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Phân bố điểm, mức phân vị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và bảng sản phẩm cần xem xét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F3A5DE-0B15-42FE-BCC5-F209778C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10300"/>
            <a:ext cx="100012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82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91388A-3480-4ECC-8713-44F52E98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5151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B5D4F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B5D4F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B5D4F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B5D4F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B5D4F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B5D4F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B5D4F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B5D4F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B5D4F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B5D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B5D4F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5D4F0"/>
                </a:solidFill>
                <a:latin typeface="Arial"/>
                <a:ea typeface="Arial"/>
                <a:cs typeface="Arial"/>
              </a:rPr>
              <a:t>CÁCH ĐỌC KẾT QUẢ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C76B7D-D569-433D-B4C8-2D372981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067550"/>
            <a:ext cx="8858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Điểm thấp hơn → sản phẩm khác biệt hơn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 sánh theo phân vị của từng chỉ số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Tải danh sách cần rà soát ở dạng CSV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50B486-3048-4408-8C7B-7A74C80D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10300"/>
            <a:ext cx="56197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40865D-0A3C-4107-95F9-6425ACDC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151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A9691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9691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9691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9691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9691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9691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9691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9691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9691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9691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A969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6912"/>
                </a:solidFill>
                <a:latin typeface="Arial"/>
                <a:ea typeface="Arial"/>
                <a:cs typeface="Arial"/>
              </a:rPr>
              <a:t>LƯU 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1DE9C0-DBC1-48B1-87EC-5DD0E418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048500"/>
            <a:ext cx="4572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>
            <a:defPPr algn="l">
              <a:defRPr sz="2025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F4E"/>
                </a:solidFill>
                <a:latin typeface="Arial"/>
                <a:ea typeface="Arial"/>
                <a:cs typeface="Arial"/>
              </a:rPr>
              <a:t>Bất thường không đồng nghĩa với hàng lỗi hay gian lận. Cần người phụ trách kiểm tra bối cảnh trước khi hành động.</a:t>
            </a:r>
          </a:p>
        </p:txBody>
      </p:sp>
    </p:spTree>
    <p:extLst>
      <p:ext uri="{BB962C8B-B14F-4D97-AF65-F5344CB8AC3E}">
        <p14:creationId xmlns:p14="http://schemas.microsoft.com/office/powerpoint/2010/main" val="9299471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A39E7F-F23E-44DC-B957-27B716EE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879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9E8"/>
                </a:solidFill>
                <a:latin typeface="Arial"/>
                <a:ea typeface="Arial"/>
                <a:cs typeface="Arial"/>
              </a:rPr>
              <a:t>07  ·  CHẤT LƯỢNG &amp; QUẢN TRỊ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3F858-16F5-4B66-A14B-245D838C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52500"/>
            <a:ext cx="16154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Dữ liệu có kiểm soát, thao tác có dấu vết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607A2-D38A-4694-928B-DBE72447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607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778F"/>
                </a:solidFill>
                <a:latin typeface="Arial"/>
                <a:ea typeface="Arial"/>
                <a:cs typeface="Arial"/>
              </a:rPr>
              <a:t>Tách khu vực phân tích khỏi các thao tác quản trị để giảm rủi ro vận hành.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8D4D5-1CEA-40DB-BE34-6A021AE4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696450"/>
            <a:ext cx="1615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8717D-5C67-4691-AB2C-43DD13AA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82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277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778F"/>
                </a:solidFill>
                <a:latin typeface="Arial"/>
                <a:ea typeface="Arial"/>
                <a:cs typeface="Arial"/>
              </a:rPr>
              <a:t>TIKILENS  /  NHÓM 08  /  BIG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D37F2-5565-45EB-9387-A10D4654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9530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E1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4C854-44E7-4CE3-AC73-D4D4FB77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953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15A04-2980-4401-A7E1-CC0F1705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337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Chất lượng dữ liệu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391F2-3199-4BF0-B37D-65EC9500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2FB76-9665-4361-B9BB-398CF960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Độ đầy đủ theo trường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70C1E-4988-4F09-89E1-11CB64FC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0D343-94FB-4D95-B444-4331B58C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006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Kiểu dữ liệu và chuẩn hóa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F79B13-AE4C-4572-A94C-205E37B9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76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36FCAF-6333-43E5-BBC9-8A3BE162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054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Phát hiện trùng / giá trị thiếu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4F5AF-C451-42DB-A977-C879400F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52CB5D-DABB-466B-98F9-0C4F8059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2103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Báo cáo lỗi dữ liệu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57BFEE-E07E-4BF0-BC4E-A8E48F00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71800"/>
            <a:ext cx="49530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E1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C87B3A-DF89-4B74-A1B3-33F0C4E0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71800"/>
            <a:ext cx="4953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F79100-2474-4CE3-A901-5D37F345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337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Quản trị dữ liệu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69C135-495B-4086-8913-D880D489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67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2C902C-B640-471F-8350-0C1EE20A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957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Thêm · cập nhật · xóa bản ghi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F908A1-159E-4FC2-A822-54CDF5D4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72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B0609E-80AD-4F40-B257-19EA966E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006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ID sản phẩm lưu dạng chuỗi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8924A9-1F39-449B-9656-5837F7F8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676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69E547-D0F0-4F41-961E-7CE2E7C2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5054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Sao lưu và phục hồi MongoDB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E61922-6B7E-4384-B2E5-19FBD672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381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49887B-136B-4286-A4EF-77D85B8C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62103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Nhật ký thao tác quản trị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348F51-4040-4EC5-9C51-B2BA7E9E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971800"/>
            <a:ext cx="49530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E1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DD7F14-523F-4D44-B538-9E9F9156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971800"/>
            <a:ext cx="4953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5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FB7EAF-170D-4FD5-96DD-3D5755AE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3337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082B5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82B56"/>
                </a:solidFill>
                <a:latin typeface="Arial"/>
                <a:ea typeface="Arial"/>
                <a:cs typeface="Arial"/>
              </a:rPr>
              <a:t>Xuất báo cáo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5F0B57-7574-42DC-B5C5-F9F67611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4267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5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D77050-A4A5-4B49-B6B5-7DDAEB48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40957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KPI · CSV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E9DAFA-4E0C-41CB-99BA-917439BB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4972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5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DFAF30-E02A-4A3B-8D41-F2DD2C48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48006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Danh mục · CSV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8E3588-ED89-450D-BA42-EF215A52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5676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5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22EA2B-F8E0-4ADB-B8F3-68740028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55054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Báo cáo · Excel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CAFF5B-949A-40E6-9CC2-C07FDB52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6381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5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4B910B-67BF-40A6-8CC3-F3369C57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62103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42F4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F4E"/>
                </a:solidFill>
                <a:latin typeface="Arial"/>
                <a:ea typeface="Arial"/>
                <a:cs typeface="Arial"/>
              </a:rPr>
              <a:t>Dùng cùng phạm vi lọc đang xem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15F71C-7D67-4D1D-A998-BC793A87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248650"/>
            <a:ext cx="16116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0E20B8-D053-4E1D-B7FE-EF7B7514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82486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8E2E36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8E2E36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8E2E36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8E2E36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8E2E36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8E2E36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8E2E36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8E2E36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8E2E36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8E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8E2E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E2E36"/>
                </a:solidFill>
                <a:latin typeface="Arial"/>
                <a:ea typeface="Arial"/>
                <a:cs typeface="Arial"/>
              </a:rPr>
              <a:t>Xóa dữ liệu là thao tác vĩnh viễn trong cơ sở dữ liệu — cần xác nhận rõ sản phẩm trước khi thực hiện.</a:t>
            </a:r>
          </a:p>
        </p:txBody>
      </p:sp>
    </p:spTree>
    <p:extLst>
      <p:ext uri="{BB962C8B-B14F-4D97-AF65-F5344CB8AC3E}">
        <p14:creationId xmlns:p14="http://schemas.microsoft.com/office/powerpoint/2010/main" val="14244635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2B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D221A5-FD8D-476C-98F8-AEC20725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6750"/>
            <a:ext cx="1143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B8D7F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B8D7F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B8D7F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B8D7F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B8D7F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B8D7F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B8D7F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B8D7F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B8D7F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B8D7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B8D7F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D7F7"/>
                </a:solidFill>
                <a:latin typeface="Arial"/>
                <a:ea typeface="Arial"/>
                <a:cs typeface="Arial"/>
              </a:rPr>
              <a:t>TIKILENS  /  TỪ DỮ LIỆU ĐẾN QUYẾT ĐỊNH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016BF-20F7-4A54-A7AA-9C0CAC77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57300"/>
            <a:ext cx="971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Một luồng phân tích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liền mạch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B020F-AA48-4609-AD49-D0114E25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Dữ liệu sản phẩm &amp; đánh giá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9FFAA-6F46-449D-99F0-EC45A89E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6240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MongoDB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chuẩn hóa &amp; truy xuất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56475-6B4B-4A1F-8D2F-DD20F9C0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96240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TikiLens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lọc · dashboard · 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ABCAC-A51B-478F-A2A2-0A79CE78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96240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Xuất báo cáo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&amp; hỗ trợ quyết định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F6F4A-214A-4FEF-AC1C-368B23DC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243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9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8A71F-1C64-4CB8-8410-1DBD9463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3860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2A534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ECD0F-D3B5-4A42-9522-588FB2CA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243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9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32CA9-E194-4443-9DB5-345D97D7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3860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2A534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1662B-CE85-433B-97CC-9CE17502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43243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9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A1B99-13E5-4809-9B70-E4B87110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03860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F2A53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2A534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5604F-38CF-40B9-94C7-2DFADED3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29300"/>
            <a:ext cx="3048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4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77AA32-4DFB-48A8-81B2-EC442E50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38825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5F1FD"/>
                </a:solidFill>
                <a:latin typeface="Arial"/>
                <a:ea typeface="Arial"/>
                <a:cs typeface="Arial"/>
              </a:rPr>
              <a:t>Dashboard kinh doanh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B8BC4-B532-4333-ACB9-F56458BF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829300"/>
            <a:ext cx="3048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3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24DD9-905F-4381-847D-36B1BAD7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38825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5F1FD"/>
                </a:solidFill>
                <a:latin typeface="Arial"/>
                <a:ea typeface="Arial"/>
                <a:cs typeface="Arial"/>
              </a:rPr>
              <a:t>Khám phá &amp; bộ lọc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74C20-CC67-4A30-AC77-6C56CC4B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29300"/>
            <a:ext cx="3048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3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8C964B-0578-41B1-98C4-4A8D020F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38825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5F1FD"/>
                </a:solidFill>
                <a:latin typeface="Arial"/>
                <a:ea typeface="Arial"/>
                <a:cs typeface="Arial"/>
              </a:rPr>
              <a:t>Phân cụm hai nhóm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4DBA00-0395-4ECB-88FE-52D99B39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829300"/>
            <a:ext cx="3048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3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025A86-264F-43F3-ADEE-0A4AA83A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838825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5F1FD"/>
                </a:solidFill>
                <a:latin typeface="Arial"/>
                <a:ea typeface="Arial"/>
                <a:cs typeface="Arial"/>
              </a:rPr>
              <a:t>Hồi quy đánh giá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65733-FB03-4B98-B6CE-4BACEE7F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5829300"/>
            <a:ext cx="3048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3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AF3A07-C83E-4B2A-A0F1-A9D7FEEA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5838825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E5F1F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5F1FD"/>
                </a:solidFill>
                <a:latin typeface="Arial"/>
                <a:ea typeface="Arial"/>
                <a:cs typeface="Arial"/>
              </a:rPr>
              <a:t>Isolation Forest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2B51F4-570C-4AFA-B8F6-466BBAC6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67550"/>
            <a:ext cx="1615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3AEBF4-B0AE-4827-A5F0-5C07D82C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52475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Dùng số liệu như một công cụ ra quyết định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E65F05-D9C7-4592-B830-E2CA0525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267700"/>
            <a:ext cx="1381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C7D9E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C7D9E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C7D9E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C7D9E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C7D9E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C7D9E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C7D9E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C7D9E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C7D9E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C7D9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C7D9E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7D9EA"/>
                </a:solidFill>
                <a:latin typeface="Arial"/>
                <a:ea typeface="Arial"/>
                <a:cs typeface="Arial"/>
              </a:rPr>
              <a:t>Kiểm tra phạm vi lọc  →  đọc chỉ số  →  xác minh tín hiệu  →  xuất báo cáo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21983D-B43D-4CA5-9623-63A19EA7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58300"/>
            <a:ext cx="142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FC8E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FC8E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FC8E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FC8E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FC8E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FC8E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FC8E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FC8E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FC8E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FC8E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AFC8E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FC8E2"/>
                </a:solidFill>
                <a:latin typeface="Arial"/>
                <a:ea typeface="Arial"/>
                <a:cs typeface="Arial"/>
              </a:rPr>
              <a:t>TikiLens  ·  Streamlit  ·  MongoDB  ·  pandas / scikit-learn / Altair</a:t>
            </a:r>
          </a:p>
        </p:txBody>
      </p:sp>
    </p:spTree>
    <p:extLst>
      <p:ext uri="{BB962C8B-B14F-4D97-AF65-F5344CB8AC3E}">
        <p14:creationId xmlns:p14="http://schemas.microsoft.com/office/powerpoint/2010/main" val="12955843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2026-10-31T08:58:08.7900000Z</dcterms:created>
  <dcterms:modified xsi:type="dcterms:W3CDTF">2026-10-31T08:58:08.7900000Z</dcterms:modified>
</coreProperties>
</file>